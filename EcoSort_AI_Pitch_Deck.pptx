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412480" y="640080"/>
            <a:ext cx="2743200" cy="2743200"/>
          </a:xfrm>
          <a:prstGeom prst="ellipse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06840" y="1234440"/>
            <a:ext cx="1554480" cy="1554480"/>
          </a:xfrm>
          <a:prstGeom prst="ellipse">
            <a:avLst/>
          </a:prstGeom>
          <a:solidFill>
            <a:srgbClr val="6FD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00032" y="1627632"/>
            <a:ext cx="768096" cy="768096"/>
          </a:xfrm>
          <a:prstGeom prst="ellipse">
            <a:avLst/>
          </a:prstGeom>
          <a:solidFill>
            <a:srgbClr val="0C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49640" y="3794760"/>
            <a:ext cx="2377440" cy="73152"/>
          </a:xfrm>
          <a:prstGeom prst="rect">
            <a:avLst/>
          </a:prstGeom>
          <a:solidFill>
            <a:srgbClr val="6FD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41080" y="4069080"/>
            <a:ext cx="603504" cy="914400"/>
          </a:xfrm>
          <a:prstGeom prst="roundRect">
            <a:avLst/>
          </a:prstGeom>
          <a:solidFill>
            <a:srgbClr val="6FD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4370832"/>
            <a:ext cx="603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C1919"/>
                </a:solidFill>
                <a:latin typeface="Aptos"/>
              </a:rPr>
              <a:t>01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45752" y="4069080"/>
            <a:ext cx="603504" cy="914400"/>
          </a:xfrm>
          <a:prstGeom prst="roundRect">
            <a:avLst/>
          </a:prstGeom>
          <a:solidFill>
            <a:srgbClr val="F6C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45752" y="4370832"/>
            <a:ext cx="603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C1919"/>
                </a:solidFill>
                <a:latin typeface="Aptos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50424" y="4069080"/>
            <a:ext cx="603504" cy="914400"/>
          </a:xfrm>
          <a:prstGeom prst="roundRect">
            <a:avLst/>
          </a:prstGeom>
          <a:solidFill>
            <a:srgbClr val="F78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50424" y="4370832"/>
            <a:ext cx="603504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0C1919"/>
                </a:solidFill>
                <a:latin typeface="Apto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024128"/>
            <a:ext cx="694944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6FDD97"/>
                </a:solidFill>
                <a:latin typeface="Aptos"/>
              </a:rPr>
              <a:t>ECOSORT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1691640"/>
            <a:ext cx="7315200" cy="1554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F6FAF7"/>
                </a:solidFill>
                <a:latin typeface="Aptos"/>
              </a:rPr>
              <a:t>Waste sorting,
made smarter.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3611880"/>
            <a:ext cx="685800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B1C5BC"/>
                </a:solidFill>
                <a:latin typeface="Aptos"/>
              </a:rPr>
              <a:t>A beginner-built AI project exploring how a picture can help identify a waste item.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892040"/>
            <a:ext cx="3291840" cy="50292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047488"/>
            <a:ext cx="30175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 i="0">
                <a:solidFill>
                  <a:srgbClr val="BFF5D3"/>
                </a:solidFill>
                <a:latin typeface="Aptos"/>
              </a:rPr>
              <a:t>FIRST: SOFTWARE 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806440"/>
            <a:ext cx="7955279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1C5BC"/>
                </a:solidFill>
                <a:latin typeface="Aptos"/>
              </a:rPr>
              <a:t>Long-term possibility: explore an AI-powered bin after technical and user validation.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1C5BC"/>
                </a:solidFill>
                <a:latin typeface="Aptos"/>
              </a:rPr>
              <a:t>ECOSORT AI  •  EARLY CONCEPT — NOT YET VALIDATED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01 •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6FAF7"/>
                </a:solidFill>
                <a:latin typeface="Aptos"/>
              </a:rPr>
              <a:t>Sorting waste is not always straightforward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698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1C5BC"/>
                </a:solidFill>
                <a:latin typeface="Aptos"/>
              </a:rPr>
              <a:t>Starting hypothesis — local scale and user needs still need research.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240280"/>
            <a:ext cx="5166360" cy="315468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542032"/>
            <a:ext cx="4297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DD97"/>
                </a:solidFill>
                <a:latin typeface="Aptos"/>
              </a:rPr>
              <a:t>THE 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971800"/>
            <a:ext cx="4389120" cy="1371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6FAF7"/>
                </a:solidFill>
                <a:latin typeface="Aptos"/>
              </a:rPr>
              <a:t>People may be unsure
which category a waste
item belongs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709160"/>
            <a:ext cx="434340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1C5BC"/>
                </a:solidFill>
                <a:latin typeface="Aptos"/>
              </a:rPr>
              <a:t>When items are mixed together, identifying each item can be harder.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3154680"/>
          </a:xfrm>
          <a:prstGeom prst="roundRect">
            <a:avLst/>
          </a:prstGeom>
          <a:solidFill>
            <a:srgbClr val="071010"/>
          </a:solidFill>
          <a:ln>
            <a:solidFill>
              <a:srgbClr val="172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2542032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CC6D"/>
                </a:solidFill>
                <a:latin typeface="Aptos"/>
              </a:rPr>
              <a:t>WHAT WE MUST VERIFY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017520"/>
            <a:ext cx="4343400" cy="17373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200"/>
              </a:spcAft>
              <a:defRPr sz="1700">
                <a:solidFill>
                  <a:srgbClr val="F6FAF7"/>
                </a:solidFill>
                <a:latin typeface="Aptos"/>
              </a:defRPr>
            </a:pPr>
            <a:r>
              <a:t>•  Do people actually face this problem?</a:t>
            </a:r>
          </a:p>
          <a:p>
            <a:pPr>
              <a:spcAft>
                <a:spcPts val="1200"/>
              </a:spcAft>
              <a:defRPr sz="1700">
                <a:solidFill>
                  <a:srgbClr val="F6FAF7"/>
                </a:solidFill>
                <a:latin typeface="Aptos"/>
              </a:defRPr>
            </a:pPr>
            <a:r>
              <a:t>•  Which waste categories matter locally?</a:t>
            </a:r>
          </a:p>
          <a:p>
            <a:pPr>
              <a:spcAft>
                <a:spcPts val="1200"/>
              </a:spcAft>
              <a:defRPr sz="1700">
                <a:solidFill>
                  <a:srgbClr val="F6FAF7"/>
                </a:solidFill>
                <a:latin typeface="Aptos"/>
              </a:defRPr>
            </a:pPr>
            <a:r>
              <a:t>•  Would a simple digital tool help?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4983480"/>
            <a:ext cx="438912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B1C5BC"/>
                </a:solidFill>
                <a:latin typeface="Aptos"/>
              </a:rPr>
              <a:t>We are not presenting these assumptions as proven market facts.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1C5BC"/>
                </a:solidFill>
                <a:latin typeface="Aptos"/>
              </a:rPr>
              <a:t>ECOSORT AI  •  EARLY CONCEPT — NOT YET VALIDATED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02 • THE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6FAF7"/>
                </a:solidFill>
                <a:latin typeface="Aptos"/>
              </a:rPr>
              <a:t>A simple image-based waste classifier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698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1C5BC"/>
                </a:solidFill>
                <a:latin typeface="Aptos"/>
              </a:rPr>
              <a:t>Version 1 will focus on one item per image — not mixed bags or smart-bin hardware.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23160"/>
            <a:ext cx="3154680" cy="233172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05840" y="2697480"/>
            <a:ext cx="530352" cy="530352"/>
          </a:xfrm>
          <a:prstGeom prst="ellipse">
            <a:avLst/>
          </a:prstGeom>
          <a:solidFill>
            <a:srgbClr val="6FD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43784"/>
            <a:ext cx="5303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919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779776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6FDD97"/>
                </a:solidFill>
                <a:latin typeface="Aptos"/>
              </a:rPr>
              <a:t>UPLOAD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3566160"/>
            <a:ext cx="26060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6FAF7"/>
                </a:solidFill>
                <a:latin typeface="Aptos"/>
              </a:rPr>
              <a:t>Choose a picture
of one waste item.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59" y="3246120"/>
            <a:ext cx="411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B1C5BC"/>
                </a:solidFill>
                <a:latin typeface="Apto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423160"/>
            <a:ext cx="3154680" cy="233172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00600" y="2697480"/>
            <a:ext cx="530352" cy="530352"/>
          </a:xfrm>
          <a:prstGeom prst="ellipse">
            <a:avLst/>
          </a:prstGeom>
          <a:solidFill>
            <a:srgbClr val="F6C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843784"/>
            <a:ext cx="5303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919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779776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CC6D"/>
                </a:solidFill>
                <a:latin typeface="Aptos"/>
              </a:rP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3566160"/>
            <a:ext cx="26060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6FAF7"/>
                </a:solidFill>
                <a:latin typeface="Aptos"/>
              </a:rPr>
              <a:t>A machine-learning
model analyzes it.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3246120"/>
            <a:ext cx="41148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 i="0">
                <a:solidFill>
                  <a:srgbClr val="B1C5BC"/>
                </a:solidFill>
                <a:latin typeface="Aptos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66760" y="2423160"/>
            <a:ext cx="3154680" cy="233172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95360" y="2697480"/>
            <a:ext cx="530352" cy="530352"/>
          </a:xfrm>
          <a:prstGeom prst="ellipse">
            <a:avLst/>
          </a:prstGeom>
          <a:solidFill>
            <a:srgbClr val="F78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2843784"/>
            <a:ext cx="530352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0C1919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779776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78773"/>
                </a:solidFill>
                <a:latin typeface="Aptos"/>
              </a:rPr>
              <a:t>SHOW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3566160"/>
            <a:ext cx="260604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 i="0">
                <a:solidFill>
                  <a:srgbClr val="F6FAF7"/>
                </a:solidFill>
                <a:latin typeface="Aptos"/>
              </a:rPr>
              <a:t>Display the predicted
waste category.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57800"/>
            <a:ext cx="10332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B1C5BC"/>
                </a:solidFill>
                <a:latin typeface="Aptos"/>
              </a:rPr>
              <a:t>Possible categories: plastic • paper/cardboard • metal • organic — final labels depend on the dataset.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1C5BC"/>
                </a:solidFill>
                <a:latin typeface="Aptos"/>
              </a:rPr>
              <a:t>ECOSORT AI  •  EARLY CONCEPT — NOT YET VALIDATED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03 • FIRST VERSION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6FAF7"/>
                </a:solidFill>
                <a:latin typeface="Aptos"/>
              </a:rPr>
              <a:t>Small scope. Real learning.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698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1C5BC"/>
                </a:solidFill>
                <a:latin typeface="Aptos"/>
              </a:rPr>
              <a:t>The MVP (minimum viable product) is the simplest version we can build and test.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48840"/>
            <a:ext cx="5166360" cy="352044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487168"/>
            <a:ext cx="4297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FDD97"/>
                </a:solidFill>
                <a:latin typeface="Aptos"/>
              </a:rPr>
              <a:t>IN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944368"/>
            <a:ext cx="438912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Software-only prototype</a:t>
            </a:r>
          </a:p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One waste item per uploaded image</a:t>
            </a:r>
          </a:p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A small set of categories supported by data</a:t>
            </a:r>
          </a:p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Test on images not used for training</a:t>
            </a:r>
          </a:p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Record mistakes and limitations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148840"/>
            <a:ext cx="5166360" cy="3520440"/>
          </a:xfrm>
          <a:prstGeom prst="roundRect">
            <a:avLst/>
          </a:prstGeom>
          <a:solidFill>
            <a:srgbClr val="071010"/>
          </a:solidFill>
          <a:ln>
            <a:solidFill>
              <a:srgbClr val="172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487168"/>
            <a:ext cx="429768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8773"/>
                </a:solidFill>
                <a:latin typeface="Aptos"/>
              </a:rPr>
              <a:t>NOT IN VERSION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6248" y="2944368"/>
            <a:ext cx="4389120" cy="2286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Physical smart bin or sensors</a:t>
            </a:r>
          </a:p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Detecting many items at once</a:t>
            </a:r>
          </a:p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Automatic recycling decisions</a:t>
            </a:r>
          </a:p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Claims of commercial readiness</a:t>
            </a:r>
          </a:p>
          <a:p>
            <a:pPr>
              <a:spcAft>
                <a:spcPts val="1200"/>
              </a:spcAft>
              <a:defRPr sz="1600">
                <a:solidFill>
                  <a:srgbClr val="F6FAF7"/>
                </a:solidFill>
                <a:latin typeface="Aptos"/>
              </a:defRPr>
            </a:pPr>
            <a:r>
              <a:t>•  Claims of proven local 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1C5BC"/>
                </a:solidFill>
                <a:latin typeface="Aptos"/>
              </a:rPr>
              <a:t>ECOSORT AI  •  EARLY CONCEPT — NOT YET VALIDATED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04 • WHO MIGHT USE IT?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6FAF7"/>
                </a:solidFill>
                <a:latin typeface="Aptos"/>
              </a:rPr>
              <a:t>Start with a hypothesis, not an assumption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698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1C5BC"/>
                </a:solidFill>
                <a:latin typeface="Aptos"/>
              </a:rPr>
              <a:t>Households and individuals are our initial group to investigate — not a validated customer segment.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23160"/>
            <a:ext cx="3337560" cy="205740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423160"/>
            <a:ext cx="3337560" cy="109728"/>
          </a:xfrm>
          <a:prstGeom prst="rect">
            <a:avLst/>
          </a:prstGeom>
          <a:solidFill>
            <a:srgbClr val="6FD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761488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6FDD97"/>
                </a:solidFill>
                <a:latin typeface="Aptos"/>
              </a:rPr>
              <a:t>HOUSEHOLDS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83280"/>
            <a:ext cx="27889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6FAF7"/>
                </a:solidFill>
                <a:latin typeface="Aptos"/>
              </a:rPr>
              <a:t>Might want help identifying
individual items.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53712" y="2423160"/>
            <a:ext cx="3337560" cy="205740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53712" y="2423160"/>
            <a:ext cx="3337560" cy="109728"/>
          </a:xfrm>
          <a:prstGeom prst="rect">
            <a:avLst/>
          </a:prstGeom>
          <a:solidFill>
            <a:srgbClr val="F6C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82312" y="2761488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6CC6D"/>
                </a:solidFill>
                <a:latin typeface="Aptos"/>
              </a:rPr>
              <a:t>WASTE COLLECTORS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8031" y="3383280"/>
            <a:ext cx="27889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6FAF7"/>
                </a:solidFill>
                <a:latin typeface="Aptos"/>
              </a:rPr>
              <a:t>May face mixed or bagged waste;
workflow needs research.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75904" y="2423160"/>
            <a:ext cx="3337560" cy="205740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375904" y="2423160"/>
            <a:ext cx="3337560" cy="109728"/>
          </a:xfrm>
          <a:prstGeom prst="rect">
            <a:avLst/>
          </a:prstGeom>
          <a:solidFill>
            <a:srgbClr val="F78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04504" y="2761488"/>
            <a:ext cx="283464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78773"/>
                </a:solidFill>
                <a:latin typeface="Aptos"/>
              </a:rPr>
              <a:t>ORGANIZATIONS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50224" y="3383280"/>
            <a:ext cx="27889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 i="0">
                <a:solidFill>
                  <a:srgbClr val="F6FAF7"/>
                </a:solidFill>
                <a:latin typeface="Aptos"/>
              </a:rPr>
              <a:t>May need reporting or sorting
support at larger scale.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219456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FDD97"/>
                </a:solidFill>
                <a:latin typeface="Aptos"/>
              </a:rPr>
              <a:t>Validation questions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892040"/>
            <a:ext cx="813816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6FAF7"/>
                </a:solidFill>
                <a:latin typeface="Aptos"/>
              </a:rPr>
              <a:t>Is the problem frequent? Would a photo-based tool fit real habits? What decision would the prediction help someone make?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1C5BC"/>
                </a:solidFill>
                <a:latin typeface="Aptos"/>
              </a:rPr>
              <a:t>ECOSORT AI  •  EARLY CONCEPT — NOT YET VALIDATED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05 • EVIDENCE BEFORE CLAIMS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6FAF7"/>
                </a:solidFill>
                <a:latin typeface="Aptos"/>
              </a:rPr>
              <a:t>How we will judge the first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698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1C5BC"/>
                </a:solidFill>
                <a:latin typeface="Aptos"/>
              </a:rPr>
              <a:t>No accuracy, adoption, or impact result is claimed yet.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240280"/>
            <a:ext cx="10561320" cy="786384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" y="2423160"/>
            <a:ext cx="384048" cy="384048"/>
          </a:xfrm>
          <a:prstGeom prst="ellipse">
            <a:avLst/>
          </a:prstGeom>
          <a:solidFill>
            <a:srgbClr val="6FDD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386584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6FDD97"/>
                </a:solidFill>
                <a:latin typeface="Aptos"/>
              </a:rPr>
              <a:t>MODEL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377440"/>
            <a:ext cx="6309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6FAF7"/>
                </a:solidFill>
                <a:latin typeface="Aptos"/>
              </a:rPr>
              <a:t>Evaluate on a separate test set of unseen images.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64408"/>
            <a:ext cx="10561320" cy="786384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3447288"/>
            <a:ext cx="384048" cy="384048"/>
          </a:xfrm>
          <a:prstGeom prst="ellipse">
            <a:avLst/>
          </a:prstGeom>
          <a:solidFill>
            <a:srgbClr val="F6CC6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3410712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6CC6D"/>
                </a:solidFill>
                <a:latin typeface="Aptos"/>
              </a:rPr>
              <a:t>ERROR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401568"/>
            <a:ext cx="6309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6FAF7"/>
                </a:solidFill>
                <a:latin typeface="Aptos"/>
              </a:rPr>
              <a:t>Inspect which categories the model confuses and why.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4288536"/>
            <a:ext cx="10561320" cy="786384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78992" y="4471416"/>
            <a:ext cx="384048" cy="384048"/>
          </a:xfrm>
          <a:prstGeom prst="ellipse">
            <a:avLst/>
          </a:prstGeom>
          <a:solidFill>
            <a:srgbClr val="F787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4434840"/>
            <a:ext cx="288036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78773"/>
                </a:solidFill>
                <a:latin typeface="Aptos"/>
              </a:rPr>
              <a:t>USER USEFULNESS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425696"/>
            <a:ext cx="630936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F6FAF7"/>
                </a:solidFill>
                <a:latin typeface="Aptos"/>
              </a:rPr>
              <a:t>Ask potential users whether the output helps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77840"/>
            <a:ext cx="10241280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FF5D3"/>
                </a:solidFill>
                <a:latin typeface="Aptos"/>
              </a:rPr>
              <a:t>Important: high test accuracy does not by itself prove that people need or will use the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1C5BC"/>
                </a:solidFill>
                <a:latin typeface="Aptos"/>
              </a:rPr>
              <a:t>ECOSORT AI  •  EARLY CONCEPT — NOT YET VALIDATED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06 • BUILD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6FAF7"/>
                </a:solidFill>
                <a:latin typeface="Aptos"/>
              </a:rPr>
              <a:t>From idea to a tested baseline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698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1C5BC"/>
                </a:solidFill>
                <a:latin typeface="Aptos"/>
              </a:rPr>
              <a:t>A learning roadmap; dates and technical choices will be set as we validate each step.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606040"/>
            <a:ext cx="2029968" cy="205740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834640"/>
            <a:ext cx="1664208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6FDD97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429000"/>
            <a:ext cx="17556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6FAF7"/>
                </a:solidFill>
                <a:latin typeface="Aptos"/>
              </a:rPr>
              <a:t>Define &amp; research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77639"/>
            <a:ext cx="175564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1C5BC"/>
                </a:solidFill>
                <a:latin typeface="Aptos"/>
              </a:rPr>
              <a:t>Problem, users, existing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338328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1C5BC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62072" y="2606040"/>
            <a:ext cx="2029968" cy="205740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2834640"/>
            <a:ext cx="1664208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6CC6D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429000"/>
            <a:ext cx="17556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6FAF7"/>
                </a:solidFill>
                <a:latin typeface="Aptos"/>
              </a:rPr>
              <a:t>Find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3977639"/>
            <a:ext cx="175564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1C5BC"/>
                </a:solidFill>
                <a:latin typeface="Aptos"/>
              </a:rPr>
              <a:t>Check labels, quality, license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9472" y="338328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1C5BC"/>
                </a:solidFill>
                <a:latin typeface="Aptos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2606040"/>
            <a:ext cx="2029968" cy="205740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04104" y="2834640"/>
            <a:ext cx="1664208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78773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8384" y="3429000"/>
            <a:ext cx="17556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6FAF7"/>
                </a:solidFill>
                <a:latin typeface="Aptos"/>
              </a:rPr>
              <a:t>Prepare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58384" y="3977639"/>
            <a:ext cx="175564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1C5BC"/>
                </a:solidFill>
                <a:latin typeface="Aptos"/>
              </a:rPr>
              <a:t>Explore, clean, split correctly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338328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1C5BC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0376" y="2606040"/>
            <a:ext cx="2029968" cy="205740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63256" y="2834640"/>
            <a:ext cx="1664208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6FDD97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17536" y="3429000"/>
            <a:ext cx="17556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6FAF7"/>
                </a:solidFill>
                <a:latin typeface="Aptos"/>
              </a:rPr>
              <a:t>Train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3977639"/>
            <a:ext cx="175564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1C5BC"/>
                </a:solidFill>
                <a:latin typeface="Aptos"/>
              </a:rPr>
              <a:t>Build the first simple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37776" y="3383280"/>
            <a:ext cx="256032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 i="0">
                <a:solidFill>
                  <a:srgbClr val="B1C5BC"/>
                </a:solidFill>
                <a:latin typeface="Aptos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39528" y="2606040"/>
            <a:ext cx="2029968" cy="205740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22408" y="2834640"/>
            <a:ext cx="1664208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 i="0">
                <a:solidFill>
                  <a:srgbClr val="F6CC6D"/>
                </a:solidFill>
                <a:latin typeface="Aptos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76688" y="3429000"/>
            <a:ext cx="1755648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F6FAF7"/>
                </a:solidFill>
                <a:latin typeface="Aptos"/>
              </a:rPr>
              <a:t>Evaluate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76688" y="3977639"/>
            <a:ext cx="1755648" cy="53035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B1C5BC"/>
                </a:solidFill>
                <a:latin typeface="Aptos"/>
              </a:rPr>
              <a:t>Measure, inspect errors, document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349240"/>
            <a:ext cx="102412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 i="0">
                <a:solidFill>
                  <a:srgbClr val="BFF5D3"/>
                </a:solidFill>
                <a:latin typeface="Aptos"/>
              </a:rPr>
              <a:t>Learning goal: understand each stage well enough to explain the decisions and results.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1C5BC"/>
                </a:solidFill>
                <a:latin typeface="Aptos"/>
              </a:rPr>
              <a:t>ECOSORT AI  •  EARLY CONCEPT — NOT YET VALIDATED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91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78992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07 • LONGER-TERM 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86384"/>
            <a:ext cx="10972800" cy="6583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6FAF7"/>
                </a:solidFill>
                <a:latin typeface="Aptos"/>
              </a:rPr>
              <a:t>Software first. Smart-bin exploration later.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81328"/>
            <a:ext cx="10698480" cy="43891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1C5BC"/>
                </a:solidFill>
                <a:latin typeface="Aptos"/>
              </a:rPr>
              <a:t>A physical AI bin is a future possibility that requires separate feasibility and user research.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240280"/>
            <a:ext cx="5074920" cy="3154680"/>
          </a:xfrm>
          <a:prstGeom prst="roundRect">
            <a:avLst/>
          </a:prstGeom>
          <a:solidFill>
            <a:srgbClr val="172B2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4297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6FDD97"/>
                </a:solidFill>
                <a:latin typeface="Aptos"/>
              </a:rPr>
              <a:t>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63240"/>
            <a:ext cx="4114800" cy="13258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F6FAF7"/>
                </a:solidFill>
                <a:latin typeface="Aptos"/>
              </a:rPr>
              <a:t>Build skills.
Build the classifier.
Measure what it can 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240280"/>
            <a:ext cx="5074920" cy="3154680"/>
          </a:xfrm>
          <a:prstGeom prst="roundRect">
            <a:avLst/>
          </a:prstGeom>
          <a:solidFill>
            <a:srgbClr val="071010"/>
          </a:solidFill>
          <a:ln>
            <a:solidFill>
              <a:srgbClr val="172B2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2606040"/>
            <a:ext cx="4297680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CC6D"/>
                </a:solidFill>
                <a:latin typeface="Aptos"/>
              </a:rPr>
              <a:t>LATER — IF EVIDENCE SUPPORTS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3063240"/>
            <a:ext cx="4114800" cy="1417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6FAF7"/>
                </a:solidFill>
                <a:latin typeface="Aptos"/>
              </a:rPr>
              <a:t>Explore user demand,
team needs, hardware costs,
maintenance, and real-world trials.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669280"/>
            <a:ext cx="10332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 i="0">
                <a:solidFill>
                  <a:srgbClr val="BFF5D3"/>
                </a:solidFill>
                <a:latin typeface="Aptos"/>
              </a:rPr>
              <a:t>Current ask: feedback on the problem, possible users, and what evidence we should collect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89611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 i="0">
                <a:solidFill>
                  <a:srgbClr val="B1C5BC"/>
                </a:solidFill>
                <a:latin typeface="Aptos"/>
              </a:rPr>
              <a:t>ECOSORT AI  •  EARLY CONCEPT — NOT YET VALIDATED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473952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 i="0">
                <a:solidFill>
                  <a:srgbClr val="6FDD97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